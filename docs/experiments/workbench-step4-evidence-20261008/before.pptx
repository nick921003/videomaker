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請學生舉例。</a:t>
            </a:r>
          </a:p>
          <a:p/>
          <a:p>
            <a:r>
              <a:t>教材原文依據：</a:t>
            </a:r>
          </a:p>
          <a:p>
            <a:r>
              <a:t>迴圈可重複執行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逐行解釋。</a:t>
            </a:r>
          </a:p>
          <a:p/>
          <a:p>
            <a:r>
              <a:t>教材原文依據：</a:t>
            </a:r>
          </a:p>
          <a:p>
            <a:r>
              <a:t>for n in range(3)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討論無限迴圈。</a:t>
            </a:r>
          </a:p>
          <a:p/>
          <a:p>
            <a:r>
              <a:t>教材原文依據：</a:t>
            </a:r>
          </a:p>
          <a:p>
            <a:r>
              <a:t>終止條件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複習。</a:t>
            </a:r>
          </a:p>
          <a:p/>
          <a:p>
            <a:r>
              <a:t>教材原文依據：</a:t>
            </a:r>
          </a:p>
          <a:p>
            <a:r>
              <a:t>更新變數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先想一想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3337560" y="2423160"/>
            <a:ext cx="1745589" cy="640080"/>
          </a:xfrm>
          <a:prstGeom prst="line">
            <a:avLst/>
          </a:prstGeom>
          <a:ln w="25400"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105802" y="2423160"/>
            <a:ext cx="1718158" cy="640080"/>
          </a:xfrm>
          <a:prstGeom prst="line">
            <a:avLst/>
          </a:prstGeom>
          <a:ln w="25400">
            <a:solidFill>
              <a:srgbClr val="A948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66160" y="1874519"/>
            <a:ext cx="5056632" cy="548640"/>
          </a:xfrm>
          <a:prstGeom prst="roundRect">
            <a:avLst/>
          </a:prstGeom>
          <a:solidFill>
            <a:srgbClr val="A9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75887" y="1892807"/>
            <a:ext cx="4837176" cy="512063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迴圈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5212080" cy="1508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99816"/>
            <a:ext cx="480974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條件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648456"/>
            <a:ext cx="480974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決定是否繼續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063240"/>
            <a:ext cx="5212080" cy="1508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3099816"/>
            <a:ext cx="4809744" cy="53949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A9482A"/>
                </a:solidFill>
                <a:latin typeface="Aptos"/>
              </a:rPr>
              <a:t>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3648456"/>
            <a:ext cx="480974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讓狀態向終止前進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程式範例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3794760"/>
          </a:xfrm>
          <a:prstGeom prst="roundRect">
            <a:avLst/>
          </a:prstGeom>
          <a:solidFill>
            <a:srgbClr val="2E3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743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D4AD7E"/>
                </a:solidFill>
                <a:latin typeface="Aptos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0058400" cy="30632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700" b="0">
                <a:solidFill>
                  <a:srgbClr val="FFFFFF"/>
                </a:solidFill>
                <a:latin typeface="Consolas"/>
              </a:rPr>
              <a:t>for n in range(3):</a:t>
            </a:r>
          </a:p>
          <a:p>
            <a:r>
              <a:rPr sz="1700" b="0">
                <a:solidFill>
                  <a:srgbClr val="FFFFFF"/>
                </a:solidFill>
                <a:latin typeface="Consolas"/>
              </a:rPr>
              <a:t>    print(n)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比較兩種寫法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正確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有終止條件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12080" cy="3794760"/>
          </a:xfrm>
          <a:prstGeom prst="roundRect">
            <a:avLst/>
          </a:prstGeom>
          <a:solidFill>
            <a:srgbClr val="F0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200" b="1">
                <a:solidFill>
                  <a:srgbClr val="A9482A"/>
                </a:solidFill>
                <a:latin typeface="Aptos"/>
              </a:rPr>
              <a:t>錯誤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33472"/>
            <a:ext cx="457200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0">
                <a:solidFill>
                  <a:srgbClr val="2F342D"/>
                </a:solidFill>
                <a:latin typeface="Aptos"/>
              </a:rPr>
              <a:t>• 無終止條件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777240"/>
            <a:ext cx="10789920" cy="758952"/>
          </a:xfrm>
        </p:spPr>
        <p:txBody>
          <a:bodyPr wrap="square" lIns="36576" rIns="36576" tIns="18288" bIns="18288">
            <a:noAutofit/>
          </a:bodyPr>
          <a:lstStyle/>
          <a:p>
            <a:r>
              <a:rPr sz="3200" b="1">
                <a:solidFill>
                  <a:srgbClr val="2F342D"/>
                </a:solidFill>
                <a:latin typeface="Aptos"/>
              </a:rPr>
              <a:t>實作步驟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200" b="1">
                <a:solidFill>
                  <a:srgbClr val="A9482A"/>
                </a:solidFill>
                <a:latin typeface="Aptos"/>
              </a:rPr>
              <a:t>Python 迴圈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432048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設定初值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4736" y="2377440"/>
            <a:ext cx="3432048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5904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3336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檢查條件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7952" y="2377440"/>
            <a:ext cx="3432048" cy="1691640"/>
          </a:xfrm>
          <a:prstGeom prst="roundRect">
            <a:avLst/>
          </a:prstGeom>
          <a:solidFill>
            <a:srgbClr val="E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2542032"/>
            <a:ext cx="594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95B47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6552" y="2926080"/>
            <a:ext cx="2974848" cy="9601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2000" b="1">
                <a:solidFill>
                  <a:srgbClr val="2F342D"/>
                </a:solidFill>
                <a:latin typeface="Aptos"/>
              </a:rPr>
              <a:t>更新變數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10698480" cy="210312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流程方向：依序 01 → 02 →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698480" cy="7406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332720" cy="704088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800" b="1">
                <a:solidFill>
                  <a:srgbClr val="2F342D"/>
                </a:solidFill>
                <a:latin typeface="Aptos"/>
              </a:rPr>
              <a:t>讀完這頁，確認條件與更新如何讓迴圈結束。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7315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00" b="0">
                <a:solidFill>
                  <a:srgbClr val="A9482A"/>
                </a:solidFill>
                <a:latin typeface="Aptos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
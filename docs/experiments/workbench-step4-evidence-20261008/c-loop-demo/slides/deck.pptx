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理解這三件事，才能判斷迴圈會跑幾次、何時停止。</a:t>
            </a:r>
          </a:p>
          <a:p/>
          <a:p>
            <a:r>
              <a:t>教材原文依據：</a:t>
            </a:r>
          </a:p>
          <a:p>
            <a:r>
              <a:t>迴圈說穿了只有三件事：從哪裡開始、什麼時候繼續、每一輪怎麼變。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先看題目要包含哪些值，再決定用 &lt; 或 &lt;=。</a:t>
            </a:r>
          </a:p>
          <a:p/>
          <a:p>
            <a:r>
              <a:t>教材原文依據：</a:t>
            </a:r>
          </a:p>
          <a:p>
            <a:r>
              <a:t>因為題目要從一加到五，五本身要算進去，所以條件寫成小於等於。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 先歸零；每輪累加當下的 i，更新後回到條件判斷。</a:t>
            </a:r>
          </a:p>
          <a:p/>
          <a:p>
            <a:r>
              <a:t>教材原文依據：</a:t>
            </a:r>
          </a:p>
          <a:p>
            <a:r>
              <a:t>第四行的累加器一定要先設成零，不歸零的話裡面是垃圾值，加出來的東西沒有意義。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選擇寫法的依據是重複次數與結束時機。</a:t>
            </a:r>
          </a:p>
          <a:p/>
          <a:p>
            <a:r>
              <a:t>教材原文依據：</a:t>
            </a:r>
          </a:p>
          <a:p>
            <a:r>
              <a:t>for 把這三件事寫在同一行，一眼就看得完，適合次數已經知道的情況。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語法正確不代表會停止；條件變數需要向結束狀態前進。</a:t>
            </a:r>
          </a:p>
          <a:p/>
          <a:p>
            <a:r>
              <a:t>教材原文依據：</a:t>
            </a:r>
          </a:p>
          <a:p>
            <a:r>
              <a:t>用 while 的時候忘記在主體裡更新條件變數，條件就永遠成立，程式停不下來。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777240"/>
            <a:ext cx="10789920" cy="758952"/>
          </a:xfrm>
        </p:spPr>
        <p:txBody>
          <a:bodyPr wrap="square" lIns="36576" rIns="36576" tIns="18288" bIns="18288">
            <a:noAutofit/>
          </a:bodyPr>
          <a:lstStyle/>
          <a:p>
            <a:r>
              <a:rPr sz="3200" b="1">
                <a:solidFill>
                  <a:srgbClr val="2F342D"/>
                </a:solidFill>
                <a:latin typeface="Aptos"/>
              </a:rPr>
              <a:t>一到一百，如何不寫一百次加法？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108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200" b="1">
                <a:solidFill>
                  <a:srgbClr val="A9482A"/>
                </a:solidFill>
                <a:latin typeface="Aptos"/>
              </a:rPr>
              <a:t>C 語言迴圈｜從看懂到避開錯誤</a:t>
            </a:r>
          </a:p>
        </p:txBody>
      </p:sp>
      <p:cxnSp>
        <p:nvCxnSpPr>
          <p:cNvPr id="4" name="Connector 3"/>
          <p:cNvCxnSpPr/>
          <p:nvPr/>
        </p:nvCxnSpPr>
        <p:spPr>
          <a:xfrm flipH="1" flipV="1">
            <a:off x="3337560" y="3291840"/>
            <a:ext cx="1745589" cy="45720"/>
          </a:xfrm>
          <a:prstGeom prst="line">
            <a:avLst/>
          </a:prstGeom>
          <a:ln w="25400">
            <a:solidFill>
              <a:srgbClr val="A948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7105802" y="3291840"/>
            <a:ext cx="1718158" cy="45720"/>
          </a:xfrm>
          <a:prstGeom prst="line">
            <a:avLst/>
          </a:prstGeom>
          <a:ln w="25400">
            <a:solidFill>
              <a:srgbClr val="A948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3337560" y="3922776"/>
            <a:ext cx="1745589" cy="54863"/>
          </a:xfrm>
          <a:prstGeom prst="line">
            <a:avLst/>
          </a:prstGeom>
          <a:ln w="25400">
            <a:solidFill>
              <a:srgbClr val="A948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566160" y="3337560"/>
            <a:ext cx="5056632" cy="585216"/>
          </a:xfrm>
          <a:prstGeom prst="roundRect">
            <a:avLst/>
          </a:prstGeom>
          <a:solidFill>
            <a:srgbClr val="A94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75887" y="3355848"/>
            <a:ext cx="4837176" cy="54864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200" b="1">
                <a:solidFill>
                  <a:srgbClr val="FFFFFF"/>
                </a:solidFill>
                <a:latin typeface="Aptos"/>
              </a:rPr>
              <a:t>重複動作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5212080" cy="1645920"/>
          </a:xfrm>
          <a:prstGeom prst="roundRect">
            <a:avLst/>
          </a:prstGeom>
          <a:solidFill>
            <a:srgbClr val="F0E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682496"/>
            <a:ext cx="4809744" cy="539496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000" b="1">
                <a:solidFill>
                  <a:srgbClr val="A9482A"/>
                </a:solidFill>
                <a:latin typeface="Aptos"/>
              </a:rPr>
              <a:t>起始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231136"/>
            <a:ext cx="4809744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0">
                <a:solidFill>
                  <a:srgbClr val="2F342D"/>
                </a:solidFill>
                <a:latin typeface="Aptos"/>
              </a:rPr>
              <a:t>先決定從哪個數開始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45920"/>
            <a:ext cx="5212080" cy="1645920"/>
          </a:xfrm>
          <a:prstGeom prst="roundRect">
            <a:avLst/>
          </a:prstGeom>
          <a:solidFill>
            <a:srgbClr val="F0E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1682496"/>
            <a:ext cx="4809744" cy="539496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000" b="1">
                <a:solidFill>
                  <a:srgbClr val="A9482A"/>
                </a:solidFill>
                <a:latin typeface="Aptos"/>
              </a:rPr>
              <a:t>繼續條件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2231136"/>
            <a:ext cx="4809744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0">
                <a:solidFill>
                  <a:srgbClr val="2F342D"/>
                </a:solidFill>
                <a:latin typeface="Aptos"/>
              </a:rPr>
              <a:t>每輪先確認是否繼續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977639"/>
            <a:ext cx="5212080" cy="1645920"/>
          </a:xfrm>
          <a:prstGeom prst="roundRect">
            <a:avLst/>
          </a:prstGeom>
          <a:solidFill>
            <a:srgbClr val="F0E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014215"/>
            <a:ext cx="4809744" cy="539496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000" b="1">
                <a:solidFill>
                  <a:srgbClr val="A9482A"/>
                </a:solidFill>
                <a:latin typeface="Aptos"/>
              </a:rPr>
              <a:t>更新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4562855"/>
            <a:ext cx="4809744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0">
                <a:solidFill>
                  <a:srgbClr val="2F342D"/>
                </a:solidFill>
                <a:latin typeface="Aptos"/>
              </a:rPr>
              <a:t>改變變數，讓迴圈前進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669280"/>
            <a:ext cx="1069848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687568"/>
            <a:ext cx="10332720" cy="786384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1">
                <a:solidFill>
                  <a:srgbClr val="2F342D"/>
                </a:solidFill>
                <a:latin typeface="Aptos"/>
              </a:rPr>
              <a:t>理解這三件事，才能判斷迴圈會跑幾次、何時停止。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537960"/>
            <a:ext cx="7315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100" b="0">
                <a:solidFill>
                  <a:srgbClr val="A9482A"/>
                </a:solidFill>
                <a:latin typeface="Aptos"/>
              </a:rPr>
              <a:t>1 /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777240"/>
            <a:ext cx="10789920" cy="758952"/>
          </a:xfrm>
        </p:spPr>
        <p:txBody>
          <a:bodyPr wrap="square" lIns="36576" rIns="36576" tIns="18288" bIns="18288">
            <a:noAutofit/>
          </a:bodyPr>
          <a:lstStyle/>
          <a:p>
            <a:r>
              <a:rPr sz="3200" b="1">
                <a:solidFill>
                  <a:srgbClr val="2F342D"/>
                </a:solidFill>
                <a:latin typeface="Aptos"/>
              </a:rPr>
              <a:t>條件說的是「繼續」，不是「停止」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108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200" b="1">
                <a:solidFill>
                  <a:srgbClr val="A9482A"/>
                </a:solidFill>
                <a:latin typeface="Aptos"/>
              </a:rPr>
              <a:t>C 語言迴圈｜從看懂到避開錯誤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83080"/>
            <a:ext cx="5212080" cy="3794760"/>
          </a:xfrm>
          <a:prstGeom prst="roundRect">
            <a:avLst/>
          </a:prstGeom>
          <a:solidFill>
            <a:srgbClr val="F0E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011680"/>
            <a:ext cx="466344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200" b="1">
                <a:solidFill>
                  <a:srgbClr val="A9482A"/>
                </a:solidFill>
                <a:latin typeface="Aptos"/>
              </a:rPr>
              <a:t>累加一到五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33472"/>
            <a:ext cx="457200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0">
                <a:solidFill>
                  <a:srgbClr val="2F342D"/>
                </a:solidFill>
                <a:latin typeface="Aptos"/>
              </a:rPr>
              <a:t>• i 從 1 開始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355848"/>
            <a:ext cx="457200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0">
                <a:solidFill>
                  <a:srgbClr val="2F342D"/>
                </a:solidFill>
                <a:latin typeface="Aptos"/>
              </a:rPr>
              <a:t>• i &lt;= 5：第五次仍要執行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078224"/>
            <a:ext cx="457200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0">
                <a:solidFill>
                  <a:srgbClr val="2F342D"/>
                </a:solidFill>
                <a:latin typeface="Aptos"/>
              </a:rPr>
              <a:t>• 下一輪 i 是 6，条件不成立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3794760"/>
          </a:xfrm>
          <a:prstGeom prst="roundRect">
            <a:avLst/>
          </a:prstGeom>
          <a:solidFill>
            <a:srgbClr val="F0E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011680"/>
            <a:ext cx="466344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200" b="1">
                <a:solidFill>
                  <a:srgbClr val="A9482A"/>
                </a:solidFill>
                <a:latin typeface="Aptos"/>
              </a:rPr>
              <a:t>長度五的陣列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633472"/>
            <a:ext cx="457200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0">
                <a:solidFill>
                  <a:srgbClr val="2F342D"/>
                </a:solidFill>
                <a:latin typeface="Aptos"/>
              </a:rPr>
              <a:t>• 索引從 0 開始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355848"/>
            <a:ext cx="457200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0">
                <a:solidFill>
                  <a:srgbClr val="2F342D"/>
                </a:solidFill>
                <a:latin typeface="Aptos"/>
              </a:rPr>
              <a:t>• 合法索引是 0 到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4078224"/>
            <a:ext cx="457200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0">
                <a:solidFill>
                  <a:srgbClr val="2F342D"/>
                </a:solidFill>
                <a:latin typeface="Aptos"/>
              </a:rPr>
              <a:t>• 使用 i &lt; 5，避免越界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669280"/>
            <a:ext cx="1069848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687568"/>
            <a:ext cx="10332720" cy="786384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1">
                <a:solidFill>
                  <a:srgbClr val="2F342D"/>
                </a:solidFill>
                <a:latin typeface="Aptos"/>
              </a:rPr>
              <a:t>先看題目要包含哪些值，再決定用 &lt; 或 &lt;=。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537960"/>
            <a:ext cx="7315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100" b="0">
                <a:solidFill>
                  <a:srgbClr val="A9482A"/>
                </a:solidFill>
                <a:latin typeface="Aptos"/>
              </a:rP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777240"/>
            <a:ext cx="10789920" cy="758952"/>
          </a:xfrm>
        </p:spPr>
        <p:txBody>
          <a:bodyPr wrap="square" lIns="36576" rIns="36576" tIns="18288" bIns="18288">
            <a:noAutofit/>
          </a:bodyPr>
          <a:lstStyle/>
          <a:p>
            <a:r>
              <a:rPr sz="3200" b="1">
                <a:solidFill>
                  <a:srgbClr val="2F342D"/>
                </a:solidFill>
                <a:latin typeface="Aptos"/>
              </a:rPr>
              <a:t>走讀：每次更新 i，再檢查條件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108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200" b="1">
                <a:solidFill>
                  <a:srgbClr val="A9482A"/>
                </a:solidFill>
                <a:latin typeface="Aptos"/>
              </a:rPr>
              <a:t>C 語言迴圈｜從看懂到避開錯誤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83080"/>
            <a:ext cx="10698480" cy="3794760"/>
          </a:xfrm>
          <a:prstGeom prst="roundRect">
            <a:avLst/>
          </a:prstGeom>
          <a:solidFill>
            <a:srgbClr val="2E3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65960"/>
            <a:ext cx="27432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600" b="1">
                <a:solidFill>
                  <a:srgbClr val="D4AD7E"/>
                </a:solidFill>
                <a:latin typeface="Aptos"/>
              </a:rPr>
              <a:t>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423160"/>
            <a:ext cx="10058400" cy="306324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0">
                <a:solidFill>
                  <a:srgbClr val="FFFFFF"/>
                </a:solidFill>
                <a:latin typeface="Consolas"/>
              </a:rPr>
              <a:t>int n = 5, sum = 0;</a:t>
            </a:r>
          </a:p>
          <a:p>
            <a:r>
              <a:rPr sz="1800" b="0">
                <a:solidFill>
                  <a:srgbClr val="FFFFFF"/>
                </a:solidFill>
                <a:latin typeface="Consolas"/>
              </a:rPr>
              <a:t>for (int i = 1; i &lt;= n; i++) {</a:t>
            </a:r>
          </a:p>
          <a:p>
            <a:r>
              <a:rPr sz="1800" b="0">
                <a:solidFill>
                  <a:srgbClr val="FFFFFF"/>
                </a:solidFill>
                <a:latin typeface="Consolas"/>
              </a:rPr>
              <a:t>    sum += i;</a:t>
            </a:r>
          </a:p>
          <a:p>
            <a:r>
              <a:rPr sz="1800" b="0">
                <a:solidFill>
                  <a:srgbClr val="FFFFFF"/>
                </a:solidFill>
                <a:latin typeface="Consolas"/>
              </a:rPr>
              <a:t>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69280"/>
            <a:ext cx="1069848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687568"/>
            <a:ext cx="10332720" cy="786384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1">
                <a:solidFill>
                  <a:srgbClr val="2F342D"/>
                </a:solidFill>
                <a:latin typeface="Aptos"/>
              </a:rPr>
              <a:t>sum 先歸零；每輪累加當下的 i，更新後回到條件判斷。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37960"/>
            <a:ext cx="7315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100" b="0">
                <a:solidFill>
                  <a:srgbClr val="A9482A"/>
                </a:solidFill>
                <a:latin typeface="Aptos"/>
              </a:rP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777240"/>
            <a:ext cx="10789920" cy="758952"/>
          </a:xfrm>
        </p:spPr>
        <p:txBody>
          <a:bodyPr wrap="square" lIns="36576" rIns="36576" tIns="18288" bIns="18288">
            <a:noAutofit/>
          </a:bodyPr>
          <a:lstStyle/>
          <a:p>
            <a:r>
              <a:rPr sz="3200" b="1">
                <a:solidFill>
                  <a:srgbClr val="2F342D"/>
                </a:solidFill>
                <a:latin typeface="Aptos"/>
              </a:rPr>
              <a:t>for 和 while：看結束時機怎麼決定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108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200" b="1">
                <a:solidFill>
                  <a:srgbClr val="A9482A"/>
                </a:solidFill>
                <a:latin typeface="Aptos"/>
              </a:rPr>
              <a:t>C 語言迴圈｜從看懂到避開錯誤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83080"/>
            <a:ext cx="5212080" cy="3794760"/>
          </a:xfrm>
          <a:prstGeom prst="roundRect">
            <a:avLst/>
          </a:prstGeom>
          <a:solidFill>
            <a:srgbClr val="F0E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011680"/>
            <a:ext cx="466344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200" b="1">
                <a:solidFill>
                  <a:srgbClr val="A9482A"/>
                </a:solidFill>
                <a:latin typeface="Aptos"/>
              </a:rPr>
              <a:t>for：次數已知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33472"/>
            <a:ext cx="457200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0">
                <a:solidFill>
                  <a:srgbClr val="2F342D"/>
                </a:solidFill>
                <a:latin typeface="Aptos"/>
              </a:rPr>
              <a:t>• 三要素集中在括號中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355848"/>
            <a:ext cx="457200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0">
                <a:solidFill>
                  <a:srgbClr val="2F342D"/>
                </a:solidFill>
                <a:latin typeface="Aptos"/>
              </a:rPr>
              <a:t>• 適合固定次數的重複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078224"/>
            <a:ext cx="457200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0">
                <a:solidFill>
                  <a:srgbClr val="2F342D"/>
                </a:solidFill>
                <a:latin typeface="Aptos"/>
              </a:rPr>
              <a:t>• 更新不容易漏寫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3794760"/>
          </a:xfrm>
          <a:prstGeom prst="roundRect">
            <a:avLst/>
          </a:prstGeom>
          <a:solidFill>
            <a:srgbClr val="F0E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011680"/>
            <a:ext cx="466344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200" b="1">
                <a:solidFill>
                  <a:srgbClr val="A9482A"/>
                </a:solidFill>
                <a:latin typeface="Aptos"/>
              </a:rPr>
              <a:t>while：次數未知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633472"/>
            <a:ext cx="457200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0">
                <a:solidFill>
                  <a:srgbClr val="2F342D"/>
                </a:solidFill>
                <a:latin typeface="Aptos"/>
              </a:rPr>
              <a:t>• 起始、條件、更新分開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355848"/>
            <a:ext cx="457200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0">
                <a:solidFill>
                  <a:srgbClr val="2F342D"/>
                </a:solidFill>
                <a:latin typeface="Aptos"/>
              </a:rPr>
              <a:t>• 例如讀到檔案結束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4078224"/>
            <a:ext cx="457200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0">
                <a:solidFill>
                  <a:srgbClr val="2F342D"/>
                </a:solidFill>
                <a:latin typeface="Aptos"/>
              </a:rPr>
              <a:t>• 或等待使用者輸入零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669280"/>
            <a:ext cx="1069848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687568"/>
            <a:ext cx="10332720" cy="786384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1">
                <a:solidFill>
                  <a:srgbClr val="2F342D"/>
                </a:solidFill>
                <a:latin typeface="Aptos"/>
              </a:rPr>
              <a:t>選擇寫法的依據是重複次數與結束時機。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537960"/>
            <a:ext cx="7315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100" b="0">
                <a:solidFill>
                  <a:srgbClr val="A9482A"/>
                </a:solidFill>
                <a:latin typeface="Aptos"/>
              </a:rP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777240"/>
            <a:ext cx="10789920" cy="758952"/>
          </a:xfrm>
        </p:spPr>
        <p:txBody>
          <a:bodyPr wrap="square" lIns="36576" rIns="36576" tIns="18288" bIns="18288">
            <a:noAutofit/>
          </a:bodyPr>
          <a:lstStyle/>
          <a:p>
            <a:r>
              <a:rPr sz="3200" b="1">
                <a:solidFill>
                  <a:srgbClr val="2F342D"/>
                </a:solidFill>
                <a:latin typeface="Aptos"/>
              </a:rPr>
              <a:t>程式停不下來？先查有沒有更新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108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200" b="1">
                <a:solidFill>
                  <a:srgbClr val="A9482A"/>
                </a:solidFill>
                <a:latin typeface="Aptos"/>
              </a:rPr>
              <a:t>C 語言迴圈｜從看懂到避開錯誤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377440"/>
            <a:ext cx="3432048" cy="1691640"/>
          </a:xfrm>
          <a:prstGeom prst="roundRect">
            <a:avLst/>
          </a:prstGeom>
          <a:solidFill>
            <a:srgbClr val="F0E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2542032"/>
            <a:ext cx="59436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1">
                <a:solidFill>
                  <a:srgbClr val="A9482A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926080"/>
            <a:ext cx="2974848" cy="9601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000" b="0">
                <a:solidFill>
                  <a:srgbClr val="2F342D"/>
                </a:solidFill>
                <a:latin typeface="Aptos"/>
              </a:rPr>
              <a:t>找出條件使用的變數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64736" y="2377440"/>
            <a:ext cx="3432048" cy="1691640"/>
          </a:xfrm>
          <a:prstGeom prst="roundRect">
            <a:avLst/>
          </a:prstGeom>
          <a:solidFill>
            <a:srgbClr val="F0E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65904" y="2542032"/>
            <a:ext cx="59436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1">
                <a:solidFill>
                  <a:srgbClr val="A9482A"/>
                </a:solidFill>
                <a:latin typeface="Aptos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3336" y="2926080"/>
            <a:ext cx="2974848" cy="9601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000" b="0">
                <a:solidFill>
                  <a:srgbClr val="2F342D"/>
                </a:solidFill>
                <a:latin typeface="Aptos"/>
              </a:rPr>
              <a:t>檢查主體是否更新它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97952" y="2377440"/>
            <a:ext cx="3432048" cy="1691640"/>
          </a:xfrm>
          <a:prstGeom prst="roundRect">
            <a:avLst/>
          </a:prstGeom>
          <a:solidFill>
            <a:srgbClr val="F0E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9120" y="2542032"/>
            <a:ext cx="59436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1">
                <a:solidFill>
                  <a:srgbClr val="A9482A"/>
                </a:solidFill>
                <a:latin typeface="Aptos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6552" y="2926080"/>
            <a:ext cx="2974848" cy="9601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000" b="0">
                <a:solidFill>
                  <a:srgbClr val="2F342D"/>
                </a:solidFill>
                <a:latin typeface="Aptos"/>
              </a:rPr>
              <a:t>確認更新能讓條件變成不成立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554480"/>
            <a:ext cx="1069848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100" b="0">
                <a:solidFill>
                  <a:srgbClr val="A9482A"/>
                </a:solidFill>
                <a:latin typeface="Aptos"/>
              </a:rPr>
              <a:t>流程方向：依序 01 → 02 → 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669280"/>
            <a:ext cx="1069848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687568"/>
            <a:ext cx="10332720" cy="786384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1">
                <a:solidFill>
                  <a:srgbClr val="2F342D"/>
                </a:solidFill>
                <a:latin typeface="Aptos"/>
              </a:rPr>
              <a:t>語法正確不代表會停止；條件變數需要向結束狀態前進。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537960"/>
            <a:ext cx="7315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100" b="0">
                <a:solidFill>
                  <a:srgbClr val="A9482A"/>
                </a:solidFill>
                <a:latin typeface="Aptos"/>
              </a:rP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
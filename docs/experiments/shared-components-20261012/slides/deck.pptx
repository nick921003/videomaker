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這是閱讀程式的四個部分；主體會依條件重複累加，離開迴圈後才印出結果。</a:t>
            </a:r>
          </a:p>
          <a:p/>
          <a:p>
            <a:r>
              <a:t>教材原文依據：</a:t>
            </a:r>
          </a:p>
          <a:p>
            <a:r>
              <a:t>走讀時分四步：宣告變數並把累加器歸零、寫出迴圈的三個部分、</a:t>
            </a:r>
          </a:p>
          <a:p>
            <a:r>
              <a:t>在主體裡累加、最後印出結果。</a:t>
            </a:r>
          </a:p>
          <a:p/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元件選擇：沿用 Board pipeline 階段資料展示走讀順序；實際重複由下一頁狀態走讀解釋。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這是閱讀程式的四個部分；主體會依條件重複累加，離開迴圈後才印出結果。</a:t>
            </a:r>
          </a:p>
          <a:p/>
          <a:p>
            <a:r>
              <a:t>教材原文依據：</a:t>
            </a:r>
          </a:p>
          <a:p>
            <a:r>
              <a:t>走讀時分四步：宣告變數並把累加器歸零、寫出迴圈的三個部分、</a:t>
            </a:r>
          </a:p>
          <a:p>
            <a:r>
              <a:t>在主體裡累加、最後印出結果。</a:t>
            </a:r>
          </a:p>
          <a:p/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元件選擇：沿用 Board pipeline 階段資料展示走讀順序；實際重複由下一頁狀態走讀解釋。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這是閱讀程式的四個部分；主體會依條件重複累加，離開迴圈後才印出結果。</a:t>
            </a:r>
          </a:p>
          <a:p/>
          <a:p>
            <a:r>
              <a:t>教材原文依據：</a:t>
            </a:r>
          </a:p>
          <a:p>
            <a:r>
              <a:t>走讀時分四步：宣告變數並把累加器歸零、寫出迴圈的三個部分、</a:t>
            </a:r>
          </a:p>
          <a:p>
            <a:r>
              <a:t>在主體裡累加、最後印出結果。</a:t>
            </a:r>
          </a:p>
          <a:p/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元件選擇：沿用 Board pipeline 階段資料展示走讀順序；實際重複由下一頁狀態走讀解釋。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這是閱讀程式的四個部分；主體會依條件重複累加，離開迴圈後才印出結果。</a:t>
            </a:r>
          </a:p>
          <a:p/>
          <a:p>
            <a:r>
              <a:t>教材原文依據：</a:t>
            </a:r>
          </a:p>
          <a:p>
            <a:r>
              <a:t>走讀時分四步：宣告變數並把累加器歸零、寫出迴圈的三個部分、</a:t>
            </a:r>
          </a:p>
          <a:p>
            <a:r>
              <a:t>在主體裡累加、最後印出結果。</a:t>
            </a:r>
          </a:p>
          <a:p/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元件選擇：沿用 Board pipeline 階段資料展示走讀順序；實際重複由下一頁狀態走讀解釋。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條件成立就繼續執行；不成立才離開。更新讓下一輪有機會接近結束。</a:t>
            </a:r>
          </a:p>
          <a:p/>
          <a:p>
            <a:r>
              <a:t>教材原文依據：</a:t>
            </a:r>
          </a:p>
          <a:p>
            <a:r>
              <a:t>迴圈說穿了只有三件事：從哪裡開始、什麼時候繼續、每一輪怎麼變。</a:t>
            </a:r>
          </a:p>
          <a:p/>
          <a:p>
            <a:r>
              <a:t>元件選擇：將三種責任分開，幫助辨認各自作用。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條件成立就繼續執行；不成立才離開。更新讓下一輪有機會接近結束。</a:t>
            </a:r>
          </a:p>
          <a:p/>
          <a:p>
            <a:r>
              <a:t>教材原文依據：</a:t>
            </a:r>
          </a:p>
          <a:p>
            <a:r>
              <a:t>迴圈說穿了只有三件事：從哪裡開始、什麼時候繼續、每一輪怎麼變。</a:t>
            </a:r>
          </a:p>
          <a:p/>
          <a:p>
            <a:r>
              <a:t>元件選擇：將三種責任分開，幫助辨認各自作用。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累加器先歸零；每輪把當下的 i 加進 sum，再更新 i。用狀態走讀核對每一步。</a:t>
            </a:r>
          </a:p>
          <a:p/>
          <a:p>
            <a:r>
              <a:t>教材原文依據：</a:t>
            </a:r>
          </a:p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元件選擇：同步顯示執行位置、變數和結果。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累加器先歸零；每輪把當下的 i 加進 sum，再更新 i。用狀態走讀核對每一步。</a:t>
            </a:r>
          </a:p>
          <a:p/>
          <a:p>
            <a:r>
              <a:t>教材原文依據：</a:t>
            </a:r>
          </a:p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元件選擇：同步顯示執行位置、變數和結果。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累加器先歸零；每輪把當下的 i 加進 sum，再更新 i。用狀態走讀核對每一步。</a:t>
            </a:r>
          </a:p>
          <a:p/>
          <a:p>
            <a:r>
              <a:t>教材原文依據：</a:t>
            </a:r>
          </a:p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元件選擇：同步顯示執行位置、變數和結果。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累加器先歸零；每輪把當下的 i 加進 sum，再更新 i。用狀態走讀核對每一步。</a:t>
            </a:r>
          </a:p>
          <a:p/>
          <a:p>
            <a:r>
              <a:t>教材原文依據：</a:t>
            </a:r>
          </a:p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元件選擇：同步顯示執行位置、變數和結果。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累加器先歸零；每輪把當下的 i 加進 sum，再更新 i。用狀態走讀核對每一步。</a:t>
            </a:r>
          </a:p>
          <a:p/>
          <a:p>
            <a:r>
              <a:t>教材原文依據：</a:t>
            </a:r>
          </a:p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元件選擇：同步顯示執行位置、變數和結果。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累加器先歸零；每輪把當下的 i 加進 sum，再更新 i。用狀態走讀核對每一步。</a:t>
            </a:r>
          </a:p>
          <a:p/>
          <a:p>
            <a:r>
              <a:t>教材原文依據：</a:t>
            </a:r>
          </a:p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元件選擇：同步顯示執行位置、變數和結果。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兩者都要照顧開始、條件與更新。選擇依情境：次數已知，或需要等某個事件發生。</a:t>
            </a:r>
          </a:p>
          <a:p/>
          <a:p>
            <a:r>
              <a:t>教材原文依據：</a:t>
            </a:r>
          </a:p>
          <a:p>
            <a:r>
              <a:t>for 把這三件事寫在同一行，一眼就看得完，適合次數已經知道的情況。</a:t>
            </a:r>
          </a:p>
          <a:p/>
          <a:p>
            <a:r>
              <a:t>while 把三件事拆開來寫，適合次數事先不知道的情況，</a:t>
            </a:r>
          </a:p>
          <a:p>
            <a:r>
              <a:t>例如一直讀到檔案結束、或是等使用者輸入零才停。</a:t>
            </a:r>
          </a:p>
          <a:p/>
          <a:p>
            <a:r>
              <a:t>int n = 5, sum = 0;</a:t>
            </a:r>
          </a:p>
          <a:p>
            <a:r>
              <a:t>    for (int i = 1; i &lt;= n; i++) {</a:t>
            </a:r>
          </a:p>
          <a:p>
            <a:r>
              <a:t>        sum += i;</a:t>
            </a:r>
          </a:p>
          <a:p>
            <a:r>
              <a:t>    }</a:t>
            </a:r>
          </a:p>
          <a:p/>
          <a:p>
            <a:r>
              <a:t>元件選擇：兩種情境並排，讓差異直接可見。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先判斷有效範圍，再選符號。加到五要包含五；長度五的陣列只有索引零到四。</a:t>
            </a:r>
          </a:p>
          <a:p/>
          <a:p>
            <a:r>
              <a:t>教材原文依據：</a:t>
            </a:r>
          </a:p>
          <a:p>
            <a:r>
              <a:t>因為題目要從一加到五，五本身要算進去，所以條件寫成小於等於。</a:t>
            </a:r>
          </a:p>
          <a:p/>
          <a:p>
            <a:r>
              <a:t>但如果今天是走訪一個長度為五的陣列，索引是從零開始、到四結束，</a:t>
            </a:r>
          </a:p>
          <a:p>
            <a:r>
              <a:t>那裡就要用小於而不是小於等於。</a:t>
            </a:r>
          </a:p>
          <a:p/>
          <a:p>
            <a:r>
              <a:t>元件選擇：兩種情境並排，讓差異直接可見。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的更新寫在主體裡，容易漏掉。若條件變數不變，下一次判斷還是成立。</a:t>
            </a:r>
          </a:p>
          <a:p/>
          <a:p>
            <a:r>
              <a:t>教材原文依據：</a:t>
            </a:r>
          </a:p>
          <a:p>
            <a:r>
              <a:t>用 while 的時候忘記在主體裡更新條件變數，條件就永遠成立，程式停不下來。</a:t>
            </a:r>
          </a:p>
          <a:p/>
          <a:p>
            <a:r>
              <a:t>元件選擇：先後順序是理解的關鍵。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用相同的檢查順序閱讀 for 與 while；核對邊界，再確認狀態朝結束前進。</a:t>
            </a:r>
          </a:p>
          <a:p/>
          <a:p>
            <a:r>
              <a:t>教材原文依據：</a:t>
            </a:r>
          </a:p>
          <a:p>
            <a:r>
              <a:t>迴圈說穿了只有三件事：從哪裡開始、什麼時候繼續、每一輪怎麼變。</a:t>
            </a:r>
          </a:p>
          <a:p/>
          <a:p>
            <a:r>
              <a:t>因為題目要從一加到五，五本身要算進去，所以條件寫成小於等於。</a:t>
            </a:r>
          </a:p>
          <a:p/>
          <a:p>
            <a:r>
              <a:t>用 while 的時候忘記在主體裡更新條件變數，條件就永遠成立，程式停不下來。</a:t>
            </a:r>
          </a:p>
          <a:p/>
          <a:p>
            <a:r>
              <a:t>元件選擇：整理已解釋過的重點供回顧。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把程式分成四部分，逐步核對結果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程式走讀要先看哪幾部分？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2688336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06040" y="3355848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06040" y="4023360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194560"/>
            <a:ext cx="3749039" cy="493776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宣告與歸零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62072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辨認迴圈三部分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走讀主體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97096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印出結果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94560"/>
            <a:ext cx="6583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603504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400" b="1">
                <a:solidFill>
                  <a:srgbClr val="A9482A"/>
                </a:solidFill>
                <a:latin typeface="Aptos"/>
              </a:rPr>
              <a:t>宣告與歸零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46120"/>
            <a:ext cx="603504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先宣告 n 與 sum，把累加器 sum 設成 0。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這是閱讀程式的四個部分；主體會依條件重複累加，離開迴圈後才印出結果。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把程式分成四部分，逐步核對結果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程式走讀要先看哪幾部分？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2688336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06040" y="3355848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06040" y="4023360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194560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宣告與歸零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62072"/>
            <a:ext cx="3749039" cy="493776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辨認迴圈三部分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走讀主體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97096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印出結果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94560"/>
            <a:ext cx="6583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603504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400" b="1">
                <a:solidFill>
                  <a:srgbClr val="A9482A"/>
                </a:solidFill>
                <a:latin typeface="Aptos"/>
              </a:rPr>
              <a:t>辨認迴圈三部分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46120"/>
            <a:ext cx="603504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找到起始、繼續條件，以及每輪更新。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這是閱讀程式的四個部分；主體會依條件重複累加，離開迴圈後才印出結果。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把程式分成四部分，逐步核對結果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程式走讀要先看哪幾部分？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2688336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06040" y="3355848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06040" y="4023360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194560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宣告與歸零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62072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辨認迴圈三部分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3749039" cy="493776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走讀主體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97096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印出結果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94560"/>
            <a:ext cx="6583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603504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400" b="1">
                <a:solidFill>
                  <a:srgbClr val="A9482A"/>
                </a:solidFill>
                <a:latin typeface="Aptos"/>
              </a:rPr>
              <a:t>走讀主體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46120"/>
            <a:ext cx="603504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每一輪將當下的 i 加進 sum，按條件重複執行。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這是閱讀程式的四個部分；主體會依條件重複累加，離開迴圈後才印出結果。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把程式分成四部分，逐步核對結果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程式走讀要先看哪幾部分？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2688336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06040" y="3355848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06040" y="4023360"/>
            <a:ext cx="0" cy="173736"/>
          </a:xfrm>
          <a:prstGeom prst="line">
            <a:avLst/>
          </a:prstGeom>
          <a:ln w="25400">
            <a:solidFill>
              <a:srgbClr val="A948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194560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宣告與歸零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62072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辨認迴圈三部分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3749039" cy="493776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走讀主體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97096"/>
            <a:ext cx="3749039" cy="493776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3383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印出結果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94560"/>
            <a:ext cx="6583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603504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400" b="1">
                <a:solidFill>
                  <a:srgbClr val="A9482A"/>
                </a:solidFill>
                <a:latin typeface="Aptos"/>
              </a:rPr>
              <a:t>印出結果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46120"/>
            <a:ext cx="603504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離開迴圈後才印出結果；一加到五得到 15。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這是閱讀程式的四個部分；主體會依條件重複累加，離開迴圈後才印出結果。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開始、繼續、更新，各管一件事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中間的條件是繼續還是停止？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5056632" cy="603504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2057400"/>
            <a:ext cx="4782312" cy="49377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迴圈的三種責任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337560" y="2615184"/>
            <a:ext cx="2756916" cy="493776"/>
          </a:xfrm>
          <a:prstGeom prst="line">
            <a:avLst/>
          </a:prstGeom>
          <a:ln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3108960"/>
            <a:ext cx="5212080" cy="228600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246120"/>
            <a:ext cx="4809744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31920"/>
            <a:ext cx="4809744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設定第一輪的起點。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2615184"/>
            <a:ext cx="2729484" cy="493776"/>
          </a:xfrm>
          <a:prstGeom prst="line">
            <a:avLst/>
          </a:prstGeom>
          <a:ln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3108960"/>
            <a:ext cx="5212080" cy="228600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246120"/>
            <a:ext cx="4809744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繼續條件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931920"/>
            <a:ext cx="4809744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成立才進入下一輪。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條件成立就繼續執行；不成立才離開。更新讓下一輪有機會接近結束。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開始、繼續、更新，各管一件事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中間的條件是繼續還是停止？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5056632" cy="603504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2057400"/>
            <a:ext cx="4782312" cy="49377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迴圈的三種責任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" y="2615184"/>
            <a:ext cx="4572" cy="493776"/>
          </a:xfrm>
          <a:prstGeom prst="line">
            <a:avLst/>
          </a:prstGeom>
          <a:ln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93008" y="3108960"/>
            <a:ext cx="5212080" cy="228600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3246120"/>
            <a:ext cx="4809744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931920"/>
            <a:ext cx="4809744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改變狀態，準備再判斷。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條件成立就繼續執行；不成立才離開。更新讓下一輪有機會接近結束。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跟著程式，看到累加值怎麼變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一加到五，sum 是怎樣得到十五？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92240" cy="352044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03703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01  int n = 5, sum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1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02  for (int i = 1; i &lt;= n; i++)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62656"/>
            <a:ext cx="6126480" cy="384048"/>
          </a:xfrm>
          <a:prstGeom prst="roundRect">
            <a:avLst/>
          </a:prstGeom>
          <a:solidFill>
            <a:srgbClr val="5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71799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03      sum += 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55848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04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39896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05  printf("%d", sum);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794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第1輪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563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63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1752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022091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22091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A9482A"/>
                </a:solidFill>
                <a:latin typeface="Aptos"/>
              </a:rPr>
              <a:t>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858768"/>
            <a:ext cx="36576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尚未印出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0 + 1 = 1，接著更新 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跟著程式，看到累加值怎麼變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一加到五，sum 是怎樣得到十五？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92240" cy="352044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03703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01  int n = 5, sum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1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02  for (int i = 1; i &lt;= n; i++)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62656"/>
            <a:ext cx="6126480" cy="384048"/>
          </a:xfrm>
          <a:prstGeom prst="roundRect">
            <a:avLst/>
          </a:prstGeom>
          <a:solidFill>
            <a:srgbClr val="5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71799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03      sum += 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55848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04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39896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05  printf("%d", sum);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794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第2輪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563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63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1752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022091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22091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A9482A"/>
                </a:solidFill>
                <a:latin typeface="Aptos"/>
              </a:rPr>
              <a:t>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858768"/>
            <a:ext cx="36576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尚未印出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1 + 2 = 3，接著更新 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跟著程式，看到累加值怎麼變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一加到五，sum 是怎樣得到十五？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92240" cy="352044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03703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01  int n = 5, sum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1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02  for (int i = 1; i &lt;= n; i++)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62656"/>
            <a:ext cx="6126480" cy="384048"/>
          </a:xfrm>
          <a:prstGeom prst="roundRect">
            <a:avLst/>
          </a:prstGeom>
          <a:solidFill>
            <a:srgbClr val="5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71799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03      sum += 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55848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04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39896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05  printf("%d", sum);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794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第3輪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563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63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1752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022091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22091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A9482A"/>
                </a:solidFill>
                <a:latin typeface="Aptos"/>
              </a:rPr>
              <a:t>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858768"/>
            <a:ext cx="36576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尚未印出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3 + 3 = 6，接著更新 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跟著程式，看到累加值怎麼變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一加到五，sum 是怎樣得到十五？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92240" cy="352044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03703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01  int n = 5, sum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1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02  for (int i = 1; i &lt;= n; i++)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62656"/>
            <a:ext cx="6126480" cy="384048"/>
          </a:xfrm>
          <a:prstGeom prst="roundRect">
            <a:avLst/>
          </a:prstGeom>
          <a:solidFill>
            <a:srgbClr val="5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71799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03      sum += 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55848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04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39896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05  printf("%d", sum);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794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第4輪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563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63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1752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022091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22091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A9482A"/>
                </a:solidFill>
                <a:latin typeface="Aptos"/>
              </a:rPr>
              <a:t>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858768"/>
            <a:ext cx="36576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尚未印出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6 + 4 = 10，接著更新 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跟著程式，看到累加值怎麼變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一加到五，sum 是怎樣得到十五？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92240" cy="352044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03703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01  int n = 5, sum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1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02  for (int i = 1; i &lt;= n; i++)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62656"/>
            <a:ext cx="6126480" cy="384048"/>
          </a:xfrm>
          <a:prstGeom prst="roundRect">
            <a:avLst/>
          </a:prstGeom>
          <a:solidFill>
            <a:srgbClr val="5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71799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03      sum += 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55848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04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39896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05  printf("%d", sum);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794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第5輪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563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63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1752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022091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22091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A9482A"/>
                </a:solidFill>
                <a:latin typeface="Aptos"/>
              </a:rPr>
              <a:t>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858768"/>
            <a:ext cx="36576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尚未印出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10 + 5 = 15，接著更新 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跟著程式，看到累加值怎麼變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一加到五，sum 是怎樣得到十五？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92240" cy="352044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03703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01  int n = 5, sum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1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02  for (int i = 1; i &lt;= n; i++)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971799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03      sum += 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55848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04 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30752"/>
            <a:ext cx="6126480" cy="384048"/>
          </a:xfrm>
          <a:prstGeom prst="roundRect">
            <a:avLst/>
          </a:prstGeom>
          <a:solidFill>
            <a:srgbClr val="5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39896"/>
            <a:ext cx="58521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05  printf("%d", sum);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794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離開迴圈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563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63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條件不成立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17520"/>
            <a:ext cx="3931920" cy="347472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022091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22091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A9482A"/>
                </a:solidFill>
                <a:latin typeface="Aptos"/>
              </a:rPr>
              <a:t>輸出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858768"/>
            <a:ext cx="36576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五已經加進去；離開迴圈後才印出結果。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已知次數用 for，未知次數看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怎麼選擇 for 或 while？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for：次數已知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三個部分集中在同一行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例如一加到五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while：次數未知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三個部分分開安排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例如等輸入零才停止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兩者都要照顧開始、條件與更新。選擇依情境：次數已知，或需要等某個事件發生。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五要不要算進去？先看情境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小於與小於等於，哪一個才對？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一加到五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有效值：1、2、3、4、5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條件包含五：i &lt;=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長度五的陣列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有效索引：0、1、2、3、4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條件排除五：i &lt;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先判斷有效範圍，再選符號。加到五要包含五；長度五的陣列只有索引零到四。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狀態不更新，迴圈就可能停不下來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條件一直成立時，什麼會改變它？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檢查條件使用的變數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4736" y="237744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5904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3336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找到主體裡的更新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7952" y="237744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9120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6552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確認更新後能讓條件不成立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while 的更新寫在主體裡，容易漏掉。若條件變數不變，下一次判斷還是成立。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698480" cy="68580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先找三要素，再驗範圍與終止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C 迴圈：看懂每一輪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A9482A"/>
                </a:solidFill>
                <a:latin typeface="Aptos"/>
              </a:rPr>
              <a:t>你能解釋每一輪為什麼會繼續嗎？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48655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起點在哪裡？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3" y="1783080"/>
            <a:ext cx="5248655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1" y="194767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3" y="233172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條件成立代表什麼？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75888"/>
            <a:ext cx="5248655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40480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8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每輪哪個值會改變？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3" y="3675888"/>
            <a:ext cx="5248655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1" y="3840480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3" y="4224528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最後一個值該不該包含？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96712"/>
            <a:ext cx="103327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用相同的檢查順序閱讀 for 與 while；核對邊界，再確認狀態朝結束前進。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